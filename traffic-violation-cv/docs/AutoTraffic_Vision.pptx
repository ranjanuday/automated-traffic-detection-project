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2440"/>
        </a:solidFill>
        <a:effectLst/>
      </p:bgPr>
    </p:bg>
    <p:spTree>
      <p:nvGrpSpPr>
        <p:cNvPr id="1" name=""/>
        <p:cNvGrpSpPr/>
        <p:nvPr/>
      </p:nvGrpSpPr>
      <p:grpSpPr/>
      <p:sp>
        <p:nvSpPr>
          <p:cNvPr id="2" name="Rectangle 1"/>
          <p:cNvSpPr/>
          <p:nvPr/>
        </p:nvSpPr>
        <p:spPr>
          <a:xfrm>
            <a:off x="0" y="2651760"/>
            <a:ext cx="12191695" cy="73152"/>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10698480" cy="1188720"/>
          </a:xfrm>
          <a:prstGeom prst="rect">
            <a:avLst/>
          </a:prstGeom>
          <a:noFill/>
        </p:spPr>
        <p:txBody>
          <a:bodyPr wrap="none">
            <a:spAutoFit/>
          </a:bodyPr>
          <a:lstStyle/>
          <a:p>
            <a:pPr algn="ctr">
              <a:spcAft>
                <a:spcPts val="600"/>
              </a:spcAft>
            </a:pPr>
            <a:r>
              <a:rPr sz="5400" b="1">
                <a:solidFill>
                  <a:srgbClr val="FFFFFF"/>
                </a:solidFill>
                <a:latin typeface="Segoe UI"/>
              </a:rPr>
              <a:t>AutoTraffic Vision</a:t>
            </a:r>
          </a:p>
        </p:txBody>
      </p:sp>
      <p:sp>
        <p:nvSpPr>
          <p:cNvPr id="4" name="TextBox 3"/>
          <p:cNvSpPr txBox="1"/>
          <p:nvPr/>
        </p:nvSpPr>
        <p:spPr>
          <a:xfrm>
            <a:off x="914400" y="2834640"/>
            <a:ext cx="10332720" cy="914400"/>
          </a:xfrm>
          <a:prstGeom prst="rect">
            <a:avLst/>
          </a:prstGeom>
          <a:noFill/>
        </p:spPr>
        <p:txBody>
          <a:bodyPr wrap="none">
            <a:spAutoFit/>
          </a:bodyPr>
          <a:lstStyle/>
          <a:p>
            <a:pPr algn="ctr">
              <a:spcAft>
                <a:spcPts val="600"/>
              </a:spcAft>
            </a:pPr>
            <a:r>
              <a:rPr sz="2400" b="0">
                <a:solidFill>
                  <a:srgbClr val="FFC220"/>
                </a:solidFill>
                <a:latin typeface="Segoe UI"/>
              </a:rPr>
              <a:t>AI-Powered Traffic Violation Detection from Photographic Evidence</a:t>
            </a:r>
          </a:p>
        </p:txBody>
      </p:sp>
      <p:sp>
        <p:nvSpPr>
          <p:cNvPr id="5" name="TextBox 4"/>
          <p:cNvSpPr txBox="1"/>
          <p:nvPr/>
        </p:nvSpPr>
        <p:spPr>
          <a:xfrm>
            <a:off x="1463040" y="3931920"/>
            <a:ext cx="9235440" cy="1828800"/>
          </a:xfrm>
          <a:prstGeom prst="rect">
            <a:avLst/>
          </a:prstGeom>
          <a:noFill/>
        </p:spPr>
        <p:txBody>
          <a:bodyPr wrap="none">
            <a:spAutoFit/>
          </a:bodyPr>
          <a:lstStyle/>
          <a:p>
            <a:pPr algn="ctr">
              <a:spcAft>
                <a:spcPts val="600"/>
              </a:spcAft>
            </a:pPr>
            <a:r>
              <a:rPr sz="1500" b="0">
                <a:solidFill>
                  <a:srgbClr val="CFD8E3"/>
                </a:solidFill>
                <a:latin typeface="Segoe UI"/>
              </a:rPr>
              <a:t>A scalable computer-vision system that automatically processes traffic surveillance images, detects vehicles and road users, identifies and classifies seven types of traffic violations, recognizes license plates via OCR, generates annotated evidence with metadata and timestamps, and provides analytics, searchable records, and performance evaluation - drastically reducing manual inspection effort for traffic enforcement.</a:t>
            </a:r>
          </a:p>
        </p:txBody>
      </p:sp>
      <p:sp>
        <p:nvSpPr>
          <p:cNvPr id="6" name="TextBox 5"/>
          <p:cNvSpPr txBox="1"/>
          <p:nvPr/>
        </p:nvSpPr>
        <p:spPr>
          <a:xfrm>
            <a:off x="914400" y="6035040"/>
            <a:ext cx="10332720" cy="457200"/>
          </a:xfrm>
          <a:prstGeom prst="rect">
            <a:avLst/>
          </a:prstGeom>
          <a:noFill/>
        </p:spPr>
        <p:txBody>
          <a:bodyPr wrap="none">
            <a:spAutoFit/>
          </a:bodyPr>
          <a:lstStyle/>
          <a:p>
            <a:pPr algn="ctr">
              <a:spcAft>
                <a:spcPts val="600"/>
              </a:spcAft>
            </a:pPr>
            <a:r>
              <a:rPr sz="1400" b="0">
                <a:solidFill>
                  <a:srgbClr val="9AA7B8"/>
                </a:solidFill>
                <a:latin typeface="Segoe UI"/>
              </a:rPr>
              <a:t>Computer Vision for Smart Traffic Enforcement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914400"/>
          </a:xfrm>
          <a:prstGeom prst="rect">
            <a:avLst/>
          </a:prstGeom>
          <a:noFill/>
        </p:spPr>
        <p:txBody>
          <a:bodyPr wrap="none">
            <a:spAutoFit/>
          </a:bodyPr>
          <a:lstStyle/>
          <a:p>
            <a:pPr algn="l">
              <a:spcAft>
                <a:spcPts val="600"/>
              </a:spcAft>
            </a:pPr>
            <a:r>
              <a:rPr sz="3000" b="1">
                <a:solidFill>
                  <a:srgbClr val="0D2440"/>
                </a:solidFill>
                <a:latin typeface="Segoe UI"/>
              </a:rPr>
              <a:t>The Problem</a:t>
            </a:r>
          </a:p>
        </p:txBody>
      </p:sp>
      <p:sp>
        <p:nvSpPr>
          <p:cNvPr id="4" name="TextBox 3"/>
          <p:cNvSpPr txBox="1"/>
          <p:nvPr/>
        </p:nvSpPr>
        <p:spPr>
          <a:xfrm>
            <a:off x="822960" y="1554480"/>
            <a:ext cx="10607040" cy="4754880"/>
          </a:xfrm>
          <a:prstGeom prst="rect">
            <a:avLst/>
          </a:prstGeom>
          <a:noFill/>
        </p:spPr>
        <p:txBody>
          <a:bodyPr wrap="square">
            <a:spAutoFit/>
          </a:bodyPr>
          <a:lstStyle/>
          <a:p>
            <a:pPr>
              <a:spcAft>
                <a:spcPts val="1000"/>
              </a:spcAft>
            </a:pPr>
            <a:r>
              <a:rPr sz="2000" b="1">
                <a:solidFill>
                  <a:srgbClr val="0D2440"/>
                </a:solidFill>
                <a:latin typeface="Segoe UI"/>
              </a:rPr>
              <a:t>Traffic surveillance cameras generate huge volumes of images every day.</a:t>
            </a:r>
          </a:p>
          <a:p>
            <a:pPr lvl="1">
              <a:spcAft>
                <a:spcPts val="1000"/>
              </a:spcAft>
            </a:pPr>
            <a:r>
              <a:rPr sz="1600" b="0">
                <a:solidFill>
                  <a:srgbClr val="555B66"/>
                </a:solidFill>
                <a:latin typeface="Segoe UI"/>
              </a:rPr>
              <a:t>- Manual inspection is labor-intensive and slow</a:t>
            </a:r>
          </a:p>
          <a:p>
            <a:pPr lvl="1">
              <a:spcAft>
                <a:spcPts val="1000"/>
              </a:spcAft>
            </a:pPr>
            <a:r>
              <a:rPr sz="1600" b="0">
                <a:solidFill>
                  <a:srgbClr val="555B66"/>
                </a:solidFill>
                <a:latin typeface="Segoe UI"/>
              </a:rPr>
              <a:t>- Human review is inconsistent and error-prone</a:t>
            </a:r>
          </a:p>
          <a:p>
            <a:pPr lvl="1">
              <a:spcAft>
                <a:spcPts val="1000"/>
              </a:spcAft>
            </a:pPr>
            <a:r>
              <a:rPr sz="1600" b="0">
                <a:solidFill>
                  <a:srgbClr val="555B66"/>
                </a:solidFill>
                <a:latin typeface="Segoe UI"/>
              </a:rPr>
              <a:t>- Enforcement does not scale with rising traffic volume</a:t>
            </a:r>
          </a:p>
          <a:p>
            <a:pPr>
              <a:spcAft>
                <a:spcPts val="1000"/>
              </a:spcAft>
            </a:pPr>
            <a:r>
              <a:rPr sz="2000" b="1">
                <a:solidFill>
                  <a:srgbClr val="0D2440"/>
                </a:solidFill>
                <a:latin typeface="Segoe UI"/>
              </a:rPr>
              <a:t>Need: an intelligent system to auto-analyze photographic evidence and improve the efficiency and accuracy of traffic-law enforcement.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914400"/>
          </a:xfrm>
          <a:prstGeom prst="rect">
            <a:avLst/>
          </a:prstGeom>
          <a:noFill/>
        </p:spPr>
        <p:txBody>
          <a:bodyPr wrap="none">
            <a:spAutoFit/>
          </a:bodyPr>
          <a:lstStyle/>
          <a:p>
            <a:pPr algn="l">
              <a:spcAft>
                <a:spcPts val="600"/>
              </a:spcAft>
            </a:pPr>
            <a:r>
              <a:rPr sz="3000" b="1">
                <a:solidFill>
                  <a:srgbClr val="0D2440"/>
                </a:solidFill>
                <a:latin typeface="Segoe UI"/>
              </a:rPr>
              <a:t>Solution Overview</a:t>
            </a:r>
          </a:p>
        </p:txBody>
      </p:sp>
      <p:sp>
        <p:nvSpPr>
          <p:cNvPr id="4" name="TextBox 3"/>
          <p:cNvSpPr txBox="1"/>
          <p:nvPr/>
        </p:nvSpPr>
        <p:spPr>
          <a:xfrm>
            <a:off x="822960" y="1554480"/>
            <a:ext cx="10607040" cy="4754880"/>
          </a:xfrm>
          <a:prstGeom prst="rect">
            <a:avLst/>
          </a:prstGeom>
          <a:noFill/>
        </p:spPr>
        <p:txBody>
          <a:bodyPr wrap="square">
            <a:spAutoFit/>
          </a:bodyPr>
          <a:lstStyle/>
          <a:p>
            <a:pPr>
              <a:spcAft>
                <a:spcPts val="1000"/>
              </a:spcAft>
            </a:pPr>
            <a:r>
              <a:rPr sz="2000" b="1">
                <a:solidFill>
                  <a:srgbClr val="0D2440"/>
                </a:solidFill>
                <a:latin typeface="Segoe UI"/>
              </a:rPr>
              <a:t>An end-to-end computer-vision pipeline:</a:t>
            </a:r>
          </a:p>
          <a:p>
            <a:pPr lvl="1">
              <a:spcAft>
                <a:spcPts val="1000"/>
              </a:spcAft>
            </a:pPr>
            <a:r>
              <a:rPr sz="1600" b="0">
                <a:solidFill>
                  <a:srgbClr val="555B66"/>
                </a:solidFill>
                <a:latin typeface="Segoe UI"/>
              </a:rPr>
              <a:t>- Preprocess -&gt; Detect -&gt; Classify Violations -&gt; Read Plate -&gt; Generate Evidence -&gt; Analytics -&gt; Evaluate</a:t>
            </a:r>
          </a:p>
          <a:p>
            <a:pPr>
              <a:spcAft>
                <a:spcPts val="1000"/>
              </a:spcAft>
            </a:pPr>
            <a:r>
              <a:rPr sz="2000" b="1">
                <a:solidFill>
                  <a:srgbClr val="0D2440"/>
                </a:solidFill>
                <a:latin typeface="Segoe UI"/>
              </a:rPr>
              <a:t>Robust across challenging conditions:</a:t>
            </a:r>
          </a:p>
          <a:p>
            <a:pPr lvl="1">
              <a:spcAft>
                <a:spcPts val="1000"/>
              </a:spcAft>
            </a:pPr>
            <a:r>
              <a:rPr sz="1600" b="0">
                <a:solidFill>
                  <a:srgbClr val="555B66"/>
                </a:solidFill>
                <a:latin typeface="Segoe UI"/>
              </a:rPr>
              <a:t>- Low light, rain, shadows, motion blur</a:t>
            </a:r>
          </a:p>
          <a:p>
            <a:pPr lvl="1">
              <a:spcAft>
                <a:spcPts val="1000"/>
              </a:spcAft>
            </a:pPr>
            <a:r>
              <a:rPr sz="1600" b="0">
                <a:solidFill>
                  <a:srgbClr val="555B66"/>
                </a:solidFill>
                <a:latin typeface="Segoe UI"/>
              </a:rPr>
              <a:t>- Varying traffic density and image quality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914400"/>
          </a:xfrm>
          <a:prstGeom prst="rect">
            <a:avLst/>
          </a:prstGeom>
          <a:noFill/>
        </p:spPr>
        <p:txBody>
          <a:bodyPr wrap="none">
            <a:spAutoFit/>
          </a:bodyPr>
          <a:lstStyle/>
          <a:p>
            <a:pPr algn="l">
              <a:spcAft>
                <a:spcPts val="600"/>
              </a:spcAft>
            </a:pPr>
            <a:r>
              <a:rPr sz="3000" b="1">
                <a:solidFill>
                  <a:srgbClr val="0D2440"/>
                </a:solidFill>
                <a:latin typeface="Segoe UI"/>
              </a:rPr>
              <a:t>System Architecture</a:t>
            </a:r>
          </a:p>
        </p:txBody>
      </p:sp>
      <p:sp>
        <p:nvSpPr>
          <p:cNvPr id="4" name="TextBox 3"/>
          <p:cNvSpPr txBox="1"/>
          <p:nvPr/>
        </p:nvSpPr>
        <p:spPr>
          <a:xfrm>
            <a:off x="822960" y="1554480"/>
            <a:ext cx="10607040" cy="4754880"/>
          </a:xfrm>
          <a:prstGeom prst="rect">
            <a:avLst/>
          </a:prstGeom>
          <a:noFill/>
        </p:spPr>
        <p:txBody>
          <a:bodyPr wrap="square">
            <a:spAutoFit/>
          </a:bodyPr>
          <a:lstStyle/>
          <a:p>
            <a:pPr>
              <a:spcAft>
                <a:spcPts val="1000"/>
              </a:spcAft>
            </a:pPr>
            <a:r>
              <a:rPr sz="2000" b="1">
                <a:solidFill>
                  <a:srgbClr val="0D2440"/>
                </a:solidFill>
                <a:latin typeface="Segoe UI"/>
              </a:rPr>
              <a:t>Pipeline stages (left to right):</a:t>
            </a:r>
          </a:p>
          <a:p>
            <a:pPr lvl="1">
              <a:spcAft>
                <a:spcPts val="1000"/>
              </a:spcAft>
            </a:pPr>
            <a:r>
              <a:rPr sz="1600" b="0">
                <a:solidFill>
                  <a:srgbClr val="555B66"/>
                </a:solidFill>
                <a:latin typeface="Segoe UI"/>
              </a:rPr>
              <a:t>- Image input</a:t>
            </a:r>
          </a:p>
          <a:p>
            <a:pPr lvl="1">
              <a:spcAft>
                <a:spcPts val="1000"/>
              </a:spcAft>
            </a:pPr>
            <a:r>
              <a:rPr sz="1600" b="0">
                <a:solidFill>
                  <a:srgbClr val="555B66"/>
                </a:solidFill>
                <a:latin typeface="Segoe UI"/>
              </a:rPr>
              <a:t>- Preprocessing: CLAHE + gamma + denoise (optional deep Restormer de-rain / de-blur)</a:t>
            </a:r>
          </a:p>
          <a:p>
            <a:pPr lvl="1">
              <a:spcAft>
                <a:spcPts val="1000"/>
              </a:spcAft>
            </a:pPr>
            <a:r>
              <a:rPr sz="1600" b="0">
                <a:solidFill>
                  <a:srgbClr val="555B66"/>
                </a:solidFill>
                <a:latin typeface="Segoe UI"/>
              </a:rPr>
              <a:t>- Object detection: COCO YOLOv8 + Indian-vehicle YOLO fusion</a:t>
            </a:r>
          </a:p>
          <a:p>
            <a:pPr lvl="1">
              <a:spcAft>
                <a:spcPts val="1000"/>
              </a:spcAft>
            </a:pPr>
            <a:r>
              <a:rPr sz="1600" b="0">
                <a:solidFill>
                  <a:srgbClr val="555B66"/>
                </a:solidFill>
                <a:latin typeface="Segoe UI"/>
              </a:rPr>
              <a:t>- 7 violation detectors (rule + model based)</a:t>
            </a:r>
          </a:p>
          <a:p>
            <a:pPr lvl="1">
              <a:spcAft>
                <a:spcPts val="1000"/>
              </a:spcAft>
            </a:pPr>
            <a:r>
              <a:rPr sz="1600" b="0">
                <a:solidFill>
                  <a:srgbClr val="555B66"/>
                </a:solidFill>
                <a:latin typeface="Segoe UI"/>
              </a:rPr>
              <a:t>- License plate: YOLOv5 detector + EasyOCR</a:t>
            </a:r>
          </a:p>
          <a:p>
            <a:pPr lvl="1">
              <a:spcAft>
                <a:spcPts val="1000"/>
              </a:spcAft>
            </a:pPr>
            <a:r>
              <a:rPr sz="1600" b="0">
                <a:solidFill>
                  <a:srgbClr val="555B66"/>
                </a:solidFill>
                <a:latin typeface="Segoe UI"/>
              </a:rPr>
              <a:t>- Evidence: annotated image + SQLite metadata + timestamp</a:t>
            </a:r>
          </a:p>
          <a:p>
            <a:pPr lvl="1">
              <a:spcAft>
                <a:spcPts val="1000"/>
              </a:spcAft>
            </a:pPr>
            <a:r>
              <a:rPr sz="1600" b="0">
                <a:solidFill>
                  <a:srgbClr val="555B66"/>
                </a:solidFill>
                <a:latin typeface="Segoe UI"/>
              </a:rPr>
              <a:t>- Analytics dashboard</a:t>
            </a:r>
          </a:p>
        </p:txBody>
      </p:sp>
      <p:sp>
        <p:nvSpPr>
          <p:cNvPr id="5" name="TextBox 4"/>
          <p:cNvSpPr txBox="1"/>
          <p:nvPr/>
        </p:nvSpPr>
        <p:spPr>
          <a:xfrm>
            <a:off x="822960" y="6309360"/>
            <a:ext cx="10607040" cy="457200"/>
          </a:xfrm>
          <a:prstGeom prst="rect">
            <a:avLst/>
          </a:prstGeom>
          <a:noFill/>
        </p:spPr>
        <p:txBody>
          <a:bodyPr wrap="none">
            <a:spAutoFit/>
          </a:bodyPr>
          <a:lstStyle/>
          <a:p>
            <a:pPr algn="l">
              <a:spcAft>
                <a:spcPts val="600"/>
              </a:spcAft>
            </a:pPr>
            <a:r>
              <a:rPr sz="1200" b="0">
                <a:solidFill>
                  <a:srgbClr val="555B66"/>
                </a:solidFill>
                <a:latin typeface="Segoe UI"/>
              </a:rPr>
              <a:t>Tech stack: Python, FastAPI, HTMX, Tailwind, Chart.js, SQLite, Ultralytics YOLO, EasyOCR, Restormer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914400"/>
          </a:xfrm>
          <a:prstGeom prst="rect">
            <a:avLst/>
          </a:prstGeom>
          <a:noFill/>
        </p:spPr>
        <p:txBody>
          <a:bodyPr wrap="none">
            <a:spAutoFit/>
          </a:bodyPr>
          <a:lstStyle/>
          <a:p>
            <a:pPr algn="l">
              <a:spcAft>
                <a:spcPts val="600"/>
              </a:spcAft>
            </a:pPr>
            <a:r>
              <a:rPr sz="3000" b="1">
                <a:solidFill>
                  <a:srgbClr val="0D2440"/>
                </a:solidFill>
                <a:latin typeface="Segoe UI"/>
              </a:rPr>
              <a:t>Image Preprocessing</a:t>
            </a:r>
          </a:p>
        </p:txBody>
      </p:sp>
      <p:sp>
        <p:nvSpPr>
          <p:cNvPr id="4" name="TextBox 3"/>
          <p:cNvSpPr txBox="1"/>
          <p:nvPr/>
        </p:nvSpPr>
        <p:spPr>
          <a:xfrm>
            <a:off x="822960" y="1554480"/>
            <a:ext cx="10607040" cy="4754880"/>
          </a:xfrm>
          <a:prstGeom prst="rect">
            <a:avLst/>
          </a:prstGeom>
          <a:noFill/>
        </p:spPr>
        <p:txBody>
          <a:bodyPr wrap="square">
            <a:spAutoFit/>
          </a:bodyPr>
          <a:lstStyle/>
          <a:p>
            <a:pPr>
              <a:spcAft>
                <a:spcPts val="1000"/>
              </a:spcAft>
            </a:pPr>
            <a:r>
              <a:rPr sz="2000" b="1">
                <a:solidFill>
                  <a:srgbClr val="0D2440"/>
                </a:solidFill>
                <a:latin typeface="Segoe UI"/>
              </a:rPr>
              <a:t>Adaptive enhancement keeps detection robust across conditions:</a:t>
            </a:r>
          </a:p>
          <a:p>
            <a:pPr lvl="1">
              <a:spcAft>
                <a:spcPts val="1000"/>
              </a:spcAft>
            </a:pPr>
            <a:r>
              <a:rPr sz="1600" b="0">
                <a:solidFill>
                  <a:srgbClr val="555B66"/>
                </a:solidFill>
                <a:latin typeface="Segoe UI"/>
              </a:rPr>
              <a:t>- Low light: gamma correction + CLAHE + denoise</a:t>
            </a:r>
          </a:p>
          <a:p>
            <a:pPr lvl="1">
              <a:spcAft>
                <a:spcPts val="1000"/>
              </a:spcAft>
            </a:pPr>
            <a:r>
              <a:rPr sz="1600" b="0">
                <a:solidFill>
                  <a:srgbClr val="555B66"/>
                </a:solidFill>
                <a:latin typeface="Segoe UI"/>
              </a:rPr>
              <a:t>- Rain / haze: CLAHE + bilateral filtering</a:t>
            </a:r>
          </a:p>
          <a:p>
            <a:pPr lvl="1">
              <a:spcAft>
                <a:spcPts val="1000"/>
              </a:spcAft>
            </a:pPr>
            <a:r>
              <a:rPr sz="1600" b="0">
                <a:solidFill>
                  <a:srgbClr val="555B66"/>
                </a:solidFill>
                <a:latin typeface="Segoe UI"/>
              </a:rPr>
              <a:t>- Shadows and motion blur handling</a:t>
            </a:r>
          </a:p>
          <a:p>
            <a:pPr>
              <a:spcAft>
                <a:spcPts val="1000"/>
              </a:spcAft>
            </a:pPr>
            <a:r>
              <a:rPr sz="2000" b="1">
                <a:solidFill>
                  <a:srgbClr val="0D2440"/>
                </a:solidFill>
                <a:latin typeface="Segoe UI"/>
              </a:rPr>
              <a:t>Optional deep restoration with Restormer (de-rain, de-blur) models for heavy-weather robustness.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914400"/>
          </a:xfrm>
          <a:prstGeom prst="rect">
            <a:avLst/>
          </a:prstGeom>
          <a:noFill/>
        </p:spPr>
        <p:txBody>
          <a:bodyPr wrap="none">
            <a:spAutoFit/>
          </a:bodyPr>
          <a:lstStyle/>
          <a:p>
            <a:pPr algn="l">
              <a:spcAft>
                <a:spcPts val="600"/>
              </a:spcAft>
            </a:pPr>
            <a:r>
              <a:rPr sz="3000" b="1">
                <a:solidFill>
                  <a:srgbClr val="0D2440"/>
                </a:solidFill>
                <a:latin typeface="Segoe UI"/>
              </a:rPr>
              <a:t>Vehicle &amp; Road-User Detection</a:t>
            </a:r>
          </a:p>
        </p:txBody>
      </p:sp>
      <p:sp>
        <p:nvSpPr>
          <p:cNvPr id="4" name="TextBox 3"/>
          <p:cNvSpPr txBox="1"/>
          <p:nvPr/>
        </p:nvSpPr>
        <p:spPr>
          <a:xfrm>
            <a:off x="822960" y="1554480"/>
            <a:ext cx="10607040" cy="4754880"/>
          </a:xfrm>
          <a:prstGeom prst="rect">
            <a:avLst/>
          </a:prstGeom>
          <a:noFill/>
        </p:spPr>
        <p:txBody>
          <a:bodyPr wrap="square">
            <a:spAutoFit/>
          </a:bodyPr>
          <a:lstStyle/>
          <a:p>
            <a:pPr>
              <a:spcAft>
                <a:spcPts val="1000"/>
              </a:spcAft>
            </a:pPr>
            <a:r>
              <a:rPr sz="2000" b="1">
                <a:solidFill>
                  <a:srgbClr val="0D2440"/>
                </a:solidFill>
                <a:latin typeface="Segoe UI"/>
              </a:rPr>
              <a:t>Sensor fusion of two detectors:</a:t>
            </a:r>
          </a:p>
          <a:p>
            <a:pPr lvl="1">
              <a:spcAft>
                <a:spcPts val="1000"/>
              </a:spcAft>
            </a:pPr>
            <a:r>
              <a:rPr sz="1600" b="0">
                <a:solidFill>
                  <a:srgbClr val="555B66"/>
                </a:solidFill>
                <a:latin typeface="Segoe UI"/>
              </a:rPr>
              <a:t>- COCO YOLOv8: person, car, bus, truck, motorcycle, bicycle, traffic light</a:t>
            </a:r>
          </a:p>
          <a:p>
            <a:pPr lvl="1">
              <a:spcAft>
                <a:spcPts val="1000"/>
              </a:spcAft>
            </a:pPr>
            <a:r>
              <a:rPr sz="1600" b="0">
                <a:solidFill>
                  <a:srgbClr val="555B66"/>
                </a:solidFill>
                <a:latin typeface="Segoe UI"/>
              </a:rPr>
              <a:t>- South-Asian / Indian-vehicle YOLO: adds auto-rickshaw and rickshaw, re-labels three-wheeler mislabels</a:t>
            </a:r>
          </a:p>
          <a:p>
            <a:pPr>
              <a:spcAft>
                <a:spcPts val="1000"/>
              </a:spcAft>
            </a:pPr>
            <a:r>
              <a:rPr sz="2000" b="1">
                <a:solidFill>
                  <a:srgbClr val="0D2440"/>
                </a:solidFill>
                <a:latin typeface="Segoe UI"/>
              </a:rPr>
              <a:t>Correctly localizes and classifies vehicle categories and road users.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914400"/>
          </a:xfrm>
          <a:prstGeom prst="rect">
            <a:avLst/>
          </a:prstGeom>
          <a:noFill/>
        </p:spPr>
        <p:txBody>
          <a:bodyPr wrap="none">
            <a:spAutoFit/>
          </a:bodyPr>
          <a:lstStyle/>
          <a:p>
            <a:pPr algn="l">
              <a:spcAft>
                <a:spcPts val="600"/>
              </a:spcAft>
            </a:pPr>
            <a:r>
              <a:rPr sz="3000" b="1">
                <a:solidFill>
                  <a:srgbClr val="0D2440"/>
                </a:solidFill>
                <a:latin typeface="Segoe UI"/>
              </a:rPr>
              <a:t>The 7 Violation Types</a:t>
            </a:r>
          </a:p>
        </p:txBody>
      </p:sp>
      <p:sp>
        <p:nvSpPr>
          <p:cNvPr id="4" name="TextBox 3"/>
          <p:cNvSpPr txBox="1"/>
          <p:nvPr/>
        </p:nvSpPr>
        <p:spPr>
          <a:xfrm>
            <a:off x="822960" y="1554480"/>
            <a:ext cx="10607040" cy="4754880"/>
          </a:xfrm>
          <a:prstGeom prst="rect">
            <a:avLst/>
          </a:prstGeom>
          <a:noFill/>
        </p:spPr>
        <p:txBody>
          <a:bodyPr wrap="square">
            <a:spAutoFit/>
          </a:bodyPr>
          <a:lstStyle/>
          <a:p>
            <a:pPr lvl="1">
              <a:spcAft>
                <a:spcPts val="1000"/>
              </a:spcAft>
            </a:pPr>
            <a:r>
              <a:rPr sz="1600" b="0">
                <a:solidFill>
                  <a:srgbClr val="555B66"/>
                </a:solidFill>
                <a:latin typeface="Segoe UI"/>
              </a:rPr>
              <a:t>- No Helmet - YOLOv8 helmet/head model (proven on real riders)</a:t>
            </a:r>
          </a:p>
          <a:p>
            <a:pPr lvl="1">
              <a:spcAft>
                <a:spcPts val="1000"/>
              </a:spcAft>
            </a:pPr>
            <a:r>
              <a:rPr sz="1600" b="0">
                <a:solidFill>
                  <a:srgbClr val="555B66"/>
                </a:solidFill>
                <a:latin typeface="Segoe UI"/>
              </a:rPr>
              <a:t>- Triple Riding - 3+ persons on one two-wheeler (geometry)</a:t>
            </a:r>
          </a:p>
          <a:p>
            <a:pPr lvl="1">
              <a:spcAft>
                <a:spcPts val="1000"/>
              </a:spcAft>
            </a:pPr>
            <a:r>
              <a:rPr sz="1600" b="0">
                <a:solidFill>
                  <a:srgbClr val="555B66"/>
                </a:solidFill>
                <a:latin typeface="Segoe UI"/>
              </a:rPr>
              <a:t>- No Seatbelt - YOLOv11 classifier (windscreen-camera opt-in)</a:t>
            </a:r>
          </a:p>
          <a:p>
            <a:pPr lvl="1">
              <a:spcAft>
                <a:spcPts val="1000"/>
              </a:spcAft>
            </a:pPr>
            <a:r>
              <a:rPr sz="1600" b="0">
                <a:solidFill>
                  <a:srgbClr val="555B66"/>
                </a:solidFill>
                <a:latin typeface="Segoe UI"/>
              </a:rPr>
              <a:t>- Red-Light Jump - HSV signal state + stop-line crossing</a:t>
            </a:r>
          </a:p>
          <a:p>
            <a:pPr lvl="1">
              <a:spcAft>
                <a:spcPts val="1000"/>
              </a:spcAft>
            </a:pPr>
            <a:r>
              <a:rPr sz="1600" b="0">
                <a:solidFill>
                  <a:srgbClr val="555B66"/>
                </a:solidFill>
                <a:latin typeface="Segoe UI"/>
              </a:rPr>
              <a:t>- Stop-Line Violation - configured or auto-detected white marking</a:t>
            </a:r>
          </a:p>
          <a:p>
            <a:pPr lvl="1">
              <a:spcAft>
                <a:spcPts val="1000"/>
              </a:spcAft>
            </a:pPr>
            <a:r>
              <a:rPr sz="1600" b="0">
                <a:solidFill>
                  <a:srgbClr val="555B66"/>
                </a:solidFill>
                <a:latin typeface="Segoe UI"/>
              </a:rPr>
              <a:t>- Wrong-Side Driving - configured divider (advisory)</a:t>
            </a:r>
          </a:p>
          <a:p>
            <a:pPr lvl="1">
              <a:spcAft>
                <a:spcPts val="1000"/>
              </a:spcAft>
            </a:pPr>
            <a:r>
              <a:rPr sz="1600" b="0">
                <a:solidFill>
                  <a:srgbClr val="555B66"/>
                </a:solidFill>
                <a:latin typeface="Segoe UI"/>
              </a:rPr>
              <a:t>- Illegal Parking - configured no-parking zones</a:t>
            </a:r>
          </a:p>
          <a:p>
            <a:pPr>
              <a:spcAft>
                <a:spcPts val="1000"/>
              </a:spcAft>
            </a:pPr>
            <a:r>
              <a:rPr sz="2000" b="1">
                <a:solidFill>
                  <a:srgbClr val="0D2440"/>
                </a:solidFill>
                <a:latin typeface="Segoe UI"/>
              </a:rPr>
              <a:t>Every prediction carries a confidence score.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914400"/>
          </a:xfrm>
          <a:prstGeom prst="rect">
            <a:avLst/>
          </a:prstGeom>
          <a:noFill/>
        </p:spPr>
        <p:txBody>
          <a:bodyPr wrap="none">
            <a:spAutoFit/>
          </a:bodyPr>
          <a:lstStyle/>
          <a:p>
            <a:pPr algn="l">
              <a:spcAft>
                <a:spcPts val="600"/>
              </a:spcAft>
            </a:pPr>
            <a:r>
              <a:rPr sz="3000" b="1">
                <a:solidFill>
                  <a:srgbClr val="0D2440"/>
                </a:solidFill>
                <a:latin typeface="Segoe UI"/>
              </a:rPr>
              <a:t>License Plate Recognition</a:t>
            </a:r>
          </a:p>
        </p:txBody>
      </p:sp>
      <p:sp>
        <p:nvSpPr>
          <p:cNvPr id="4" name="TextBox 3"/>
          <p:cNvSpPr txBox="1"/>
          <p:nvPr/>
        </p:nvSpPr>
        <p:spPr>
          <a:xfrm>
            <a:off x="822960" y="1554480"/>
            <a:ext cx="10607040" cy="4754880"/>
          </a:xfrm>
          <a:prstGeom prst="rect">
            <a:avLst/>
          </a:prstGeom>
          <a:noFill/>
        </p:spPr>
        <p:txBody>
          <a:bodyPr wrap="square">
            <a:spAutoFit/>
          </a:bodyPr>
          <a:lstStyle/>
          <a:p>
            <a:pPr>
              <a:spcAft>
                <a:spcPts val="1000"/>
              </a:spcAft>
            </a:pPr>
            <a:r>
              <a:rPr sz="2000" b="1">
                <a:solidFill>
                  <a:srgbClr val="0D2440"/>
                </a:solidFill>
                <a:latin typeface="Segoe UI"/>
              </a:rPr>
              <a:t>Two-stage Automatic Number-Plate Recognition (ANPR):</a:t>
            </a:r>
          </a:p>
          <a:p>
            <a:pPr lvl="1">
              <a:spcAft>
                <a:spcPts val="1000"/>
              </a:spcAft>
            </a:pPr>
            <a:r>
              <a:rPr sz="1600" b="0">
                <a:solidFill>
                  <a:srgbClr val="555B66"/>
                </a:solidFill>
                <a:latin typeface="Segoe UI"/>
              </a:rPr>
              <a:t>- Stage 1: YOLOv5 plate detector tightly crops the plate</a:t>
            </a:r>
          </a:p>
          <a:p>
            <a:pPr lvl="1">
              <a:spcAft>
                <a:spcPts val="1000"/>
              </a:spcAft>
            </a:pPr>
            <a:r>
              <a:rPr sz="1600" b="0">
                <a:solidFill>
                  <a:srgbClr val="555B66"/>
                </a:solidFill>
                <a:latin typeface="Segoe UI"/>
              </a:rPr>
              <a:t>- Stage 2: EasyOCR extracts the registration string</a:t>
            </a:r>
          </a:p>
          <a:p>
            <a:pPr>
              <a:spcAft>
                <a:spcPts val="1000"/>
              </a:spcAft>
            </a:pPr>
            <a:r>
              <a:rPr sz="2000" b="1">
                <a:solidFill>
                  <a:srgbClr val="0D2440"/>
                </a:solidFill>
                <a:latin typeface="Segoe UI"/>
              </a:rPr>
              <a:t>Graceful degradation: returns nothing rather than garbage on unreadable plates.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914400"/>
          </a:xfrm>
          <a:prstGeom prst="rect">
            <a:avLst/>
          </a:prstGeom>
          <a:noFill/>
        </p:spPr>
        <p:txBody>
          <a:bodyPr wrap="none">
            <a:spAutoFit/>
          </a:bodyPr>
          <a:lstStyle/>
          <a:p>
            <a:pPr algn="l">
              <a:spcAft>
                <a:spcPts val="600"/>
              </a:spcAft>
            </a:pPr>
            <a:r>
              <a:rPr sz="3000" b="1">
                <a:solidFill>
                  <a:srgbClr val="0D2440"/>
                </a:solidFill>
                <a:latin typeface="Segoe UI"/>
              </a:rPr>
              <a:t>Evidence Generation</a:t>
            </a:r>
          </a:p>
        </p:txBody>
      </p:sp>
      <p:sp>
        <p:nvSpPr>
          <p:cNvPr id="4" name="TextBox 3"/>
          <p:cNvSpPr txBox="1"/>
          <p:nvPr/>
        </p:nvSpPr>
        <p:spPr>
          <a:xfrm>
            <a:off x="822960" y="1554480"/>
            <a:ext cx="10607040" cy="4754880"/>
          </a:xfrm>
          <a:prstGeom prst="rect">
            <a:avLst/>
          </a:prstGeom>
          <a:noFill/>
        </p:spPr>
        <p:txBody>
          <a:bodyPr wrap="square">
            <a:spAutoFit/>
          </a:bodyPr>
          <a:lstStyle/>
          <a:p>
            <a:pPr>
              <a:spcAft>
                <a:spcPts val="1000"/>
              </a:spcAft>
            </a:pPr>
            <a:r>
              <a:rPr sz="2000" b="1">
                <a:solidFill>
                  <a:srgbClr val="0D2440"/>
                </a:solidFill>
                <a:latin typeface="Segoe UI"/>
              </a:rPr>
              <a:t>Annotated images with colored bounding boxes + violation labels + confidence (e.g. "No Helmet 73%").</a:t>
            </a:r>
          </a:p>
          <a:p>
            <a:pPr>
              <a:spcAft>
                <a:spcPts val="1000"/>
              </a:spcAft>
            </a:pPr>
            <a:r>
              <a:rPr sz="2000" b="1">
                <a:solidFill>
                  <a:srgbClr val="0D2440"/>
                </a:solidFill>
                <a:latin typeface="Segoe UI"/>
              </a:rPr>
              <a:t>Metadata persisted to SQLite:</a:t>
            </a:r>
          </a:p>
          <a:p>
            <a:pPr lvl="1">
              <a:spcAft>
                <a:spcPts val="1000"/>
              </a:spcAft>
            </a:pPr>
            <a:r>
              <a:rPr sz="1600" b="0">
                <a:solidFill>
                  <a:srgbClr val="555B66"/>
                </a:solidFill>
                <a:latin typeface="Segoe UI"/>
              </a:rPr>
              <a:t>- Violation type, confidence, bounding box, plate, note</a:t>
            </a:r>
          </a:p>
          <a:p>
            <a:pPr lvl="1">
              <a:spcAft>
                <a:spcPts val="1000"/>
              </a:spcAft>
            </a:pPr>
            <a:r>
              <a:rPr sz="1600" b="0">
                <a:solidFill>
                  <a:srgbClr val="555B66"/>
                </a:solidFill>
                <a:latin typeface="Segoe UI"/>
              </a:rPr>
              <a:t>- UTC timestamps for every record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914400"/>
          </a:xfrm>
          <a:prstGeom prst="rect">
            <a:avLst/>
          </a:prstGeom>
          <a:noFill/>
        </p:spPr>
        <p:txBody>
          <a:bodyPr wrap="none">
            <a:spAutoFit/>
          </a:bodyPr>
          <a:lstStyle/>
          <a:p>
            <a:pPr algn="l">
              <a:spcAft>
                <a:spcPts val="600"/>
              </a:spcAft>
            </a:pPr>
            <a:r>
              <a:rPr sz="3000" b="1">
                <a:solidFill>
                  <a:srgbClr val="0D2440"/>
                </a:solidFill>
                <a:latin typeface="Segoe UI"/>
              </a:rPr>
              <a:t>Analytics &amp; Reporting</a:t>
            </a:r>
          </a:p>
        </p:txBody>
      </p:sp>
      <p:sp>
        <p:nvSpPr>
          <p:cNvPr id="4" name="TextBox 3"/>
          <p:cNvSpPr txBox="1"/>
          <p:nvPr/>
        </p:nvSpPr>
        <p:spPr>
          <a:xfrm>
            <a:off x="822960" y="1554480"/>
            <a:ext cx="10607040" cy="4754880"/>
          </a:xfrm>
          <a:prstGeom prst="rect">
            <a:avLst/>
          </a:prstGeom>
          <a:noFill/>
        </p:spPr>
        <p:txBody>
          <a:bodyPr wrap="square">
            <a:spAutoFit/>
          </a:bodyPr>
          <a:lstStyle/>
          <a:p>
            <a:pPr>
              <a:spcAft>
                <a:spcPts val="1000"/>
              </a:spcAft>
            </a:pPr>
            <a:r>
              <a:rPr sz="2000" b="1">
                <a:solidFill>
                  <a:srgbClr val="0D2440"/>
                </a:solidFill>
                <a:latin typeface="Segoe UI"/>
              </a:rPr>
              <a:t>Dashboard built with HTMX + Chart.js:</a:t>
            </a:r>
          </a:p>
          <a:p>
            <a:pPr lvl="1">
              <a:spcAft>
                <a:spcPts val="1000"/>
              </a:spcAft>
            </a:pPr>
            <a:r>
              <a:rPr sz="1600" b="0">
                <a:solidFill>
                  <a:srgbClr val="555B66"/>
                </a:solidFill>
                <a:latin typeface="Segoe UI"/>
              </a:rPr>
              <a:t>- Violation statistics by type</a:t>
            </a:r>
          </a:p>
          <a:p>
            <a:pPr lvl="1">
              <a:spcAft>
                <a:spcPts val="1000"/>
              </a:spcAft>
            </a:pPr>
            <a:r>
              <a:rPr sz="1600" b="0">
                <a:solidFill>
                  <a:srgbClr val="555B66"/>
                </a:solidFill>
                <a:latin typeface="Segoe UI"/>
              </a:rPr>
              <a:t>- Daily / trend breakdowns</a:t>
            </a:r>
          </a:p>
          <a:p>
            <a:pPr lvl="1">
              <a:spcAft>
                <a:spcPts val="1000"/>
              </a:spcAft>
            </a:pPr>
            <a:r>
              <a:rPr sz="1600" b="0">
                <a:solidFill>
                  <a:srgbClr val="555B66"/>
                </a:solidFill>
                <a:latin typeface="Segoe UI"/>
              </a:rPr>
              <a:t>- Top offending plates</a:t>
            </a:r>
          </a:p>
          <a:p>
            <a:pPr>
              <a:spcAft>
                <a:spcPts val="1000"/>
              </a:spcAft>
            </a:pPr>
            <a:r>
              <a:rPr sz="2000" b="1">
                <a:solidFill>
                  <a:srgbClr val="0D2440"/>
                </a:solidFill>
                <a:latin typeface="Segoe UI"/>
              </a:rPr>
              <a:t>Searchable records filterable by violation type and plate number.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914400"/>
          </a:xfrm>
          <a:prstGeom prst="rect">
            <a:avLst/>
          </a:prstGeom>
          <a:noFill/>
        </p:spPr>
        <p:txBody>
          <a:bodyPr wrap="none">
            <a:spAutoFit/>
          </a:bodyPr>
          <a:lstStyle/>
          <a:p>
            <a:pPr algn="l">
              <a:spcAft>
                <a:spcPts val="600"/>
              </a:spcAft>
            </a:pPr>
            <a:r>
              <a:rPr sz="3000" b="1">
                <a:solidFill>
                  <a:srgbClr val="0D2440"/>
                </a:solidFill>
                <a:latin typeface="Segoe UI"/>
              </a:rPr>
              <a:t>Performance Evaluation</a:t>
            </a:r>
          </a:p>
        </p:txBody>
      </p:sp>
      <p:sp>
        <p:nvSpPr>
          <p:cNvPr id="4" name="TextBox 3"/>
          <p:cNvSpPr txBox="1"/>
          <p:nvPr/>
        </p:nvSpPr>
        <p:spPr>
          <a:xfrm>
            <a:off x="822960" y="1554480"/>
            <a:ext cx="10607040" cy="4754880"/>
          </a:xfrm>
          <a:prstGeom prst="rect">
            <a:avLst/>
          </a:prstGeom>
          <a:noFill/>
        </p:spPr>
        <p:txBody>
          <a:bodyPr wrap="square">
            <a:spAutoFit/>
          </a:bodyPr>
          <a:lstStyle/>
          <a:p>
            <a:pPr>
              <a:spcAft>
                <a:spcPts val="1000"/>
              </a:spcAft>
            </a:pPr>
            <a:r>
              <a:rPr sz="2000" b="1">
                <a:solidFill>
                  <a:srgbClr val="0D2440"/>
                </a:solidFill>
                <a:latin typeface="Segoe UI"/>
              </a:rPr>
              <a:t>Metrics harness computes:</a:t>
            </a:r>
          </a:p>
          <a:p>
            <a:pPr lvl="1">
              <a:spcAft>
                <a:spcPts val="1000"/>
              </a:spcAft>
            </a:pPr>
            <a:r>
              <a:rPr sz="1600" b="0">
                <a:solidFill>
                  <a:srgbClr val="555B66"/>
                </a:solidFill>
                <a:latin typeface="Segoe UI"/>
              </a:rPr>
              <a:t>- Accuracy, Precision, Recall, F1-score per class</a:t>
            </a:r>
          </a:p>
          <a:p>
            <a:pPr lvl="1">
              <a:spcAft>
                <a:spcPts val="1000"/>
              </a:spcAft>
            </a:pPr>
            <a:r>
              <a:rPr sz="1600" b="0">
                <a:solidFill>
                  <a:srgbClr val="555B66"/>
                </a:solidFill>
                <a:latin typeface="Segoe UI"/>
              </a:rPr>
              <a:t>- Real mAP@0.5 via IoU box matching</a:t>
            </a:r>
          </a:p>
          <a:p>
            <a:pPr lvl="1">
              <a:spcAft>
                <a:spcPts val="1000"/>
              </a:spcAft>
            </a:pPr>
            <a:r>
              <a:rPr sz="1600" b="0">
                <a:solidFill>
                  <a:srgbClr val="555B66"/>
                </a:solidFill>
                <a:latin typeface="Segoe UI"/>
              </a:rPr>
              <a:t>- Per-stage computational efficiency (latency)</a:t>
            </a:r>
          </a:p>
          <a:p>
            <a:pPr>
              <a:spcAft>
                <a:spcPts val="1000"/>
              </a:spcAft>
            </a:pPr>
            <a:r>
              <a:rPr sz="2000" b="1">
                <a:solidFill>
                  <a:srgbClr val="0D2440"/>
                </a:solidFill>
                <a:latin typeface="Segoe UI"/>
              </a:rPr>
              <a:t>On the labelled sample set: 100% image-level accuracy, no_helmet F1 = 1.00; ~6.5 s/image on CPU.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914400"/>
          </a:xfrm>
          <a:prstGeom prst="rect">
            <a:avLst/>
          </a:prstGeom>
          <a:noFill/>
        </p:spPr>
        <p:txBody>
          <a:bodyPr wrap="none">
            <a:spAutoFit/>
          </a:bodyPr>
          <a:lstStyle/>
          <a:p>
            <a:pPr algn="l">
              <a:spcAft>
                <a:spcPts val="600"/>
              </a:spcAft>
            </a:pPr>
            <a:r>
              <a:rPr sz="3000" b="1">
                <a:solidFill>
                  <a:srgbClr val="0D2440"/>
                </a:solidFill>
                <a:latin typeface="Segoe UI"/>
              </a:rPr>
              <a:t>Engineering Quality</a:t>
            </a:r>
          </a:p>
        </p:txBody>
      </p:sp>
      <p:sp>
        <p:nvSpPr>
          <p:cNvPr id="4" name="TextBox 3"/>
          <p:cNvSpPr txBox="1"/>
          <p:nvPr/>
        </p:nvSpPr>
        <p:spPr>
          <a:xfrm>
            <a:off x="822960" y="1554480"/>
            <a:ext cx="10607040" cy="4754880"/>
          </a:xfrm>
          <a:prstGeom prst="rect">
            <a:avLst/>
          </a:prstGeom>
          <a:noFill/>
        </p:spPr>
        <p:txBody>
          <a:bodyPr wrap="square">
            <a:spAutoFit/>
          </a:bodyPr>
          <a:lstStyle/>
          <a:p>
            <a:pPr>
              <a:spcAft>
                <a:spcPts val="1000"/>
              </a:spcAft>
            </a:pPr>
            <a:r>
              <a:rPr sz="2000" b="1">
                <a:solidFill>
                  <a:srgbClr val="0D2440"/>
                </a:solidFill>
                <a:latin typeface="Segoe UI"/>
              </a:rPr>
              <a:t>Real pretrained models (not mocks); graceful degradation.</a:t>
            </a:r>
          </a:p>
          <a:p>
            <a:pPr>
              <a:spcAft>
                <a:spcPts val="1000"/>
              </a:spcAft>
            </a:pPr>
            <a:r>
              <a:rPr sz="2000" b="1">
                <a:solidFill>
                  <a:srgbClr val="0D2440"/>
                </a:solidFill>
                <a:latin typeface="Segoe UI"/>
              </a:rPr>
              <a:t>False-positive guards proven by the eval harness:</a:t>
            </a:r>
          </a:p>
          <a:p>
            <a:pPr lvl="1">
              <a:spcAft>
                <a:spcPts val="1000"/>
              </a:spcAft>
            </a:pPr>
            <a:r>
              <a:rPr sz="1600" b="0">
                <a:solidFill>
                  <a:srgbClr val="555B66"/>
                </a:solidFill>
                <a:latin typeface="Segoe UI"/>
              </a:rPr>
              <a:t>- A red parked car is NOT mistaken for a red signal</a:t>
            </a:r>
          </a:p>
          <a:p>
            <a:pPr lvl="1">
              <a:spcAft>
                <a:spcPts val="1000"/>
              </a:spcAft>
            </a:pPr>
            <a:r>
              <a:rPr sz="1600" b="0">
                <a:solidFill>
                  <a:srgbClr val="555B66"/>
                </a:solidFill>
                <a:latin typeface="Segoe UI"/>
              </a:rPr>
              <a:t>- A sunlit road is NOT mistaken for a stop line</a:t>
            </a:r>
          </a:p>
          <a:p>
            <a:pPr>
              <a:spcAft>
                <a:spcPts val="1000"/>
              </a:spcAft>
            </a:pPr>
            <a:r>
              <a:rPr sz="2000" b="1">
                <a:solidFill>
                  <a:srgbClr val="0D2440"/>
                </a:solidFill>
                <a:latin typeface="Segoe UI"/>
              </a:rPr>
              <a:t>Detectors abstain when un-configured rather than fabricate violations.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914400"/>
          </a:xfrm>
          <a:prstGeom prst="rect">
            <a:avLst/>
          </a:prstGeom>
          <a:noFill/>
        </p:spPr>
        <p:txBody>
          <a:bodyPr wrap="none">
            <a:spAutoFit/>
          </a:bodyPr>
          <a:lstStyle/>
          <a:p>
            <a:pPr algn="l">
              <a:spcAft>
                <a:spcPts val="600"/>
              </a:spcAft>
            </a:pPr>
            <a:r>
              <a:rPr sz="3000" b="1">
                <a:solidFill>
                  <a:srgbClr val="0D2440"/>
                </a:solidFill>
                <a:latin typeface="Segoe UI"/>
              </a:rPr>
              <a:t>Limitations &amp; Future Work</a:t>
            </a:r>
          </a:p>
        </p:txBody>
      </p:sp>
      <p:sp>
        <p:nvSpPr>
          <p:cNvPr id="4" name="TextBox 3"/>
          <p:cNvSpPr txBox="1"/>
          <p:nvPr/>
        </p:nvSpPr>
        <p:spPr>
          <a:xfrm>
            <a:off x="822960" y="1554480"/>
            <a:ext cx="10607040" cy="4754880"/>
          </a:xfrm>
          <a:prstGeom prst="rect">
            <a:avLst/>
          </a:prstGeom>
          <a:noFill/>
        </p:spPr>
        <p:txBody>
          <a:bodyPr wrap="square">
            <a:spAutoFit/>
          </a:bodyPr>
          <a:lstStyle/>
          <a:p>
            <a:pPr>
              <a:spcAft>
                <a:spcPts val="1000"/>
              </a:spcAft>
            </a:pPr>
            <a:r>
              <a:rPr sz="2000" b="1">
                <a:solidFill>
                  <a:srgbClr val="0D2440"/>
                </a:solidFill>
                <a:latin typeface="Segoe UI"/>
              </a:rPr>
              <a:t>Honest current limits:</a:t>
            </a:r>
          </a:p>
          <a:p>
            <a:pPr lvl="1">
              <a:spcAft>
                <a:spcPts val="1000"/>
              </a:spcAft>
            </a:pPr>
            <a:r>
              <a:rPr sz="1600" b="0">
                <a:solidFill>
                  <a:srgbClr val="555B66"/>
                </a:solidFill>
                <a:latin typeface="Segoe UI"/>
              </a:rPr>
              <a:t>- Seatbelt model imperfect on out-of-distribution images</a:t>
            </a:r>
          </a:p>
          <a:p>
            <a:pPr lvl="1">
              <a:spcAft>
                <a:spcPts val="1000"/>
              </a:spcAft>
            </a:pPr>
            <a:r>
              <a:rPr sz="1600" b="0">
                <a:solidFill>
                  <a:srgbClr val="555B66"/>
                </a:solidFill>
                <a:latin typeface="Segoe UI"/>
              </a:rPr>
              <a:t>- Wrong-side from a still frame is advisory (needs video/motion)</a:t>
            </a:r>
          </a:p>
          <a:p>
            <a:pPr lvl="1">
              <a:spcAft>
                <a:spcPts val="1000"/>
              </a:spcAft>
            </a:pPr>
            <a:r>
              <a:rPr sz="1600" b="0">
                <a:solidFill>
                  <a:srgbClr val="555B66"/>
                </a:solidFill>
                <a:latin typeface="Segoe UI"/>
              </a:rPr>
              <a:t>- Small labelled eval set; needs hundreds of annotated images</a:t>
            </a:r>
          </a:p>
          <a:p>
            <a:pPr lvl="1">
              <a:spcAft>
                <a:spcPts val="1000"/>
              </a:spcAft>
            </a:pPr>
            <a:r>
              <a:rPr sz="1600" b="0">
                <a:solidFill>
                  <a:srgbClr val="555B66"/>
                </a:solidFill>
                <a:latin typeface="Segoe UI"/>
              </a:rPr>
              <a:t>- Config-driven detectors need per-camera setup</a:t>
            </a:r>
          </a:p>
          <a:p>
            <a:pPr>
              <a:spcAft>
                <a:spcPts val="1000"/>
              </a:spcAft>
            </a:pPr>
            <a:r>
              <a:rPr sz="2000" b="1">
                <a:solidFill>
                  <a:srgbClr val="0D2440"/>
                </a:solidFill>
                <a:latin typeface="Segoe UI"/>
              </a:rPr>
              <a:t>Future: video tracking, larger detectors, region-fine-tuned models, scalable deployment.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2440"/>
        </a:solidFill>
        <a:effectLst/>
      </p:bgPr>
    </p:bg>
    <p:spTree>
      <p:nvGrpSpPr>
        <p:cNvPr id="1" name=""/>
        <p:cNvGrpSpPr/>
        <p:nvPr/>
      </p:nvGrpSpPr>
      <p:grpSpPr/>
      <p:sp>
        <p:nvSpPr>
          <p:cNvPr id="2" name="Rectangle 1"/>
          <p:cNvSpPr/>
          <p:nvPr/>
        </p:nvSpPr>
        <p:spPr>
          <a:xfrm>
            <a:off x="0" y="1828800"/>
            <a:ext cx="12191695" cy="73152"/>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914400"/>
            <a:ext cx="10698480" cy="914400"/>
          </a:xfrm>
          <a:prstGeom prst="rect">
            <a:avLst/>
          </a:prstGeom>
          <a:noFill/>
        </p:spPr>
        <p:txBody>
          <a:bodyPr wrap="none">
            <a:spAutoFit/>
          </a:bodyPr>
          <a:lstStyle/>
          <a:p>
            <a:pPr algn="ctr">
              <a:spcAft>
                <a:spcPts val="600"/>
              </a:spcAft>
            </a:pPr>
            <a:r>
              <a:rPr sz="4000" b="1">
                <a:solidFill>
                  <a:srgbClr val="FFFFFF"/>
                </a:solidFill>
                <a:latin typeface="Segoe UI"/>
              </a:rPr>
              <a:t>Summary &amp; Impact</a:t>
            </a:r>
          </a:p>
        </p:txBody>
      </p:sp>
      <p:sp>
        <p:nvSpPr>
          <p:cNvPr id="4" name="TextBox 3"/>
          <p:cNvSpPr txBox="1"/>
          <p:nvPr/>
        </p:nvSpPr>
        <p:spPr>
          <a:xfrm>
            <a:off x="1280160" y="2286000"/>
            <a:ext cx="9601200" cy="3200400"/>
          </a:xfrm>
          <a:prstGeom prst="rect">
            <a:avLst/>
          </a:prstGeom>
          <a:noFill/>
        </p:spPr>
        <p:txBody>
          <a:bodyPr wrap="none">
            <a:spAutoFit/>
          </a:bodyPr>
          <a:lstStyle/>
          <a:p>
            <a:pPr algn="ctr">
              <a:spcAft>
                <a:spcPts val="600"/>
              </a:spcAft>
            </a:pPr>
            <a:r>
              <a:rPr sz="2000" b="0">
                <a:solidFill>
                  <a:srgbClr val="DDE5EF"/>
                </a:solidFill>
                <a:latin typeface="Segoe UI"/>
              </a:rPr>
              <a:t>A working, scalable AI traffic-image analysis system that automatically identifies, classifies, and documents 7 violation types from photographic evidence - reducing manual effort and improving the effectiveness of traffic monitoring and enforcement.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